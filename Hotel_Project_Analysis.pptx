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by Channel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193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Web</c:v>
                  </c:pt>
                  <c:pt idx="1">
                    <c:v>Mobile App</c:v>
                  </c:pt>
                  <c:pt idx="2">
                    <c:v>Travel Agent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422.9</c:v>
                </c:pt>
                <c:pt idx="1">
                  <c:v>256.4</c:v>
                </c:pt>
                <c:pt idx="2">
                  <c:v>73.1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Booking Count by Channel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bubble3D val="0"/>
            <c:spPr>
              <a:solidFill>
                <a:srgbClr val="0A1931"/>
              </a:solidFill>
              <a:effectLst/>
            </c:spPr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Web
15,001</c:v>
                </c:pt>
                <c:pt idx="1">
                  <c:v>Mobile App
12,009</c:v>
                </c:pt>
                <c:pt idx="2">
                  <c:v>Travel Agent
2,990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15001</c:v>
                </c:pt>
                <c:pt idx="1">
                  <c:v>12009</c:v>
                </c:pt>
                <c:pt idx="2">
                  <c:v>2990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Apr-24</c:v>
                  </c:pt>
                  <c:pt idx="1">
                    <c:v>May-24</c:v>
                  </c:pt>
                  <c:pt idx="2">
                    <c:v>Jun-24</c:v>
                  </c:pt>
                  <c:pt idx="3">
                    <c:v>Jul-24</c:v>
                  </c:pt>
                  <c:pt idx="4">
                    <c:v>Aug-24</c:v>
                  </c:pt>
                  <c:pt idx="5">
                    <c:v>Sep-24</c:v>
                  </c:pt>
                  <c:pt idx="6">
                    <c:v>Oct-24</c:v>
                  </c:pt>
                  <c:pt idx="7">
                    <c:v>Nov-24</c:v>
                  </c:pt>
                  <c:pt idx="8">
                    <c:v>Dec-24</c:v>
                  </c:pt>
                  <c:pt idx="9">
                    <c:v>Jan-25</c:v>
                  </c:pt>
                  <c:pt idx="10">
                    <c:v>Feb-25</c:v>
                  </c:pt>
                  <c:pt idx="11">
                    <c:v>Mar-25</c:v>
                  </c:pt>
                  <c:pt idx="12">
                    <c:v>Apr-25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51.5</c:v>
                </c:pt>
                <c:pt idx="1">
                  <c:v>54.7</c:v>
                </c:pt>
                <c:pt idx="2">
                  <c:v>55.3</c:v>
                </c:pt>
                <c:pt idx="3">
                  <c:v>60.2</c:v>
                </c:pt>
                <c:pt idx="4">
                  <c:v>61.5</c:v>
                </c:pt>
                <c:pt idx="5">
                  <c:v>56.3</c:v>
                </c:pt>
                <c:pt idx="6">
                  <c:v>58.7</c:v>
                </c:pt>
                <c:pt idx="7">
                  <c:v>58.8</c:v>
                </c:pt>
                <c:pt idx="8">
                  <c:v>54.9</c:v>
                </c:pt>
                <c:pt idx="9">
                  <c:v>55.3</c:v>
                </c:pt>
                <c:pt idx="10">
                  <c:v>59.3</c:v>
                </c:pt>
                <c:pt idx="11">
                  <c:v>64.5</c:v>
                </c:pt>
                <c:pt idx="12">
                  <c:v>61.3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Markup ($M)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Chicago</c:v>
                  </c:pt>
                  <c:pt idx="1">
                    <c:v>Los Angeles</c:v>
                  </c:pt>
                  <c:pt idx="2">
                    <c:v>San Francisco</c:v>
                  </c:pt>
                  <c:pt idx="3">
                    <c:v>Las Vegas</c:v>
                  </c:pt>
                  <c:pt idx="4">
                    <c:v>New York</c:v>
                  </c:pt>
                  <c:pt idx="5">
                    <c:v>Orlando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21.5</c:v>
                </c:pt>
                <c:pt idx="1">
                  <c:v>21.4</c:v>
                </c:pt>
                <c:pt idx="2">
                  <c:v>21.3</c:v>
                </c:pt>
                <c:pt idx="3">
                  <c:v>21</c:v>
                </c:pt>
                <c:pt idx="4">
                  <c:v>20.9</c:v>
                </c:pt>
                <c:pt idx="5">
                  <c:v>19.8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Booking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Confirmed (72.2%)</c:v>
                </c:pt>
                <c:pt idx="1">
                  <c:v>Cancelled (20.2%)</c:v>
                </c:pt>
                <c:pt idx="2">
                  <c:v>Failed (7.5%)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21672</c:v>
                </c:pt>
                <c:pt idx="1">
                  <c:v>6070</c:v>
                </c:pt>
                <c:pt idx="2">
                  <c:v>2258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Cancellations by Room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Standard</c:v>
                  </c:pt>
                  <c:pt idx="1">
                    <c:v>Deluxe</c:v>
                  </c:pt>
                  <c:pt idx="2">
                    <c:v>Suite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3857</c:v>
                </c:pt>
                <c:pt idx="1">
                  <c:v>1679</c:v>
                </c:pt>
                <c:pt idx="2">
                  <c:v>534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27432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Analytics: SQL  •  Python  •  Power BI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Records  •  13 Months  •  6 Cities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63640" y="640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6364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$752M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6364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$209M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6364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from raw data to actionable insights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34440"/>
            <a:ext cx="16642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34440"/>
            <a:ext cx="1664208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344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" y="16184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" y="210312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" y="2532888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hotel booking records across 6 US cities, 13 months (Apr 2024 – Apr 2025)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20240" y="2697480"/>
            <a:ext cx="9144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1234440"/>
            <a:ext cx="16642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234440"/>
            <a:ext cx="1664208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2344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16184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84832" y="210312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84832" y="2532888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DB schema, loaded data, ran 7 SQL queries: bookings, cancellations, channel &amp; room performance, city profit, monthly trends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75888" y="2697480"/>
            <a:ext cx="9144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67328" y="1234440"/>
            <a:ext cx="16642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67328" y="1234440"/>
            <a:ext cx="1664208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12344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67328" y="16184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40480" y="210312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2532888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Analysis, data cleaning, statistical insights, revenue/profit calculations, visualizations with matplotlib &amp; seaborn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31536" y="2697480"/>
            <a:ext cx="9144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22976" y="1234440"/>
            <a:ext cx="16642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22976" y="1234440"/>
            <a:ext cx="1664208" cy="3657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22976" y="12344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22976" y="16184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96128" y="210312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96128" y="2532888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with KPIs, slicers, charts — booking trends, channel performance, city-level profitability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87184" y="2697480"/>
            <a:ext cx="9144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78624" y="1234440"/>
            <a:ext cx="16642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78624" y="1234440"/>
            <a:ext cx="1664208" cy="3657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78624" y="12344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78624" y="16184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351776" y="210312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51776" y="2532888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identified for losses; strategic recommendations to increase revenue and reduce cancellations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metrics across 30,000 bookings — April 2024 to April 2025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88720"/>
            <a:ext cx="19933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88720"/>
            <a:ext cx="73152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298448"/>
            <a:ext cx="17373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0624" y="175930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204459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2024 – Apr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32304" y="1188720"/>
            <a:ext cx="19933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32304" y="1188720"/>
            <a:ext cx="73152" cy="10972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1298448"/>
            <a:ext cx="17373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$752.4M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96896" y="175930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96896" y="204459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value (gross)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08576" y="1188720"/>
            <a:ext cx="19933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188720"/>
            <a:ext cx="73152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298448"/>
            <a:ext cx="17373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$208.9M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73168" y="175930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(Markup)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04459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27.8% margin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84848" y="1188720"/>
            <a:ext cx="19933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84848" y="1188720"/>
            <a:ext cx="73152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298448"/>
            <a:ext cx="17373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$9.6M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49440" y="175930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Refunds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204459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 of revenue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2468880"/>
            <a:ext cx="19933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468880"/>
            <a:ext cx="73152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2578608"/>
            <a:ext cx="17373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21,672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20624" y="303946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Bookings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" y="332475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 of total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32304" y="2468880"/>
            <a:ext cx="19933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32304" y="2468880"/>
            <a:ext cx="73152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96896" y="2578608"/>
            <a:ext cx="17373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6,070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596896" y="303946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96896" y="332475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20.2% cancel rate ⚠️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08576" y="2468880"/>
            <a:ext cx="19933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08576" y="2468880"/>
            <a:ext cx="73152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578608"/>
            <a:ext cx="17373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2,258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773168" y="303946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Bookings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3168" y="332475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 failure rate ⚠️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84848" y="2468880"/>
            <a:ext cx="19933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84848" y="2468880"/>
            <a:ext cx="73152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2578608"/>
            <a:ext cx="17373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$6,963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949440" y="303946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Markup / Booking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49440" y="332475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channels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6032" y="3749040"/>
            <a:ext cx="8631936" cy="411480"/>
          </a:xfrm>
          <a:prstGeom prst="rect">
            <a:avLst/>
          </a:prstGeom>
          <a:solidFill>
            <a:srgbClr val="E0F4F4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Cancellations (20.2%) and failed transactions (7.5%) together account for 27.7% of lost potential revenue — a critical focus area.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MySQL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analytical queries to uncover booking patterns and business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3444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34440"/>
            <a:ext cx="50292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344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12893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15819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records loaded and validated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14884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148840"/>
            <a:ext cx="50292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148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22037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" y="24963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21,672 | Cancelled: 6,070 | Failed: 2,258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06324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3063240"/>
            <a:ext cx="50292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063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" y="31181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" y="34107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$422.9M | Mobile App: $256.4M | Travel Agent: $73.1M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97764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977640"/>
            <a:ext cx="50292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9776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" y="40325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Avg Value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" y="43251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$25,147 | Deluxe: $25,005 | Suite: $24,978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23444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234440"/>
            <a:ext cx="50292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2344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12893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Profit Ranking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15819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#1 ($21.5M) → New York #5 ($20.9M) — narrow spread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14884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148840"/>
            <a:ext cx="50292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148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22037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24963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from $51.5M (Apr-24) to $64.5M (Mar-25) — +25%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06324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063240"/>
            <a:ext cx="502920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063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31181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by Room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34107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3,857 | Deluxe: 1,679 | Suite: 534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40050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27 columns — customer_id, booking_date, check_in/out, room_type,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booking_value, costprice, markup, refund_amount, cashback, coupon_redeem…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Python EDA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analysis, cleaning, and visual insights using pandas, matplotlib &amp; seaborn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3444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23444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96112" y="1234440"/>
            <a:ext cx="27432" cy="1051560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258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Inspection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618488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30K rows, verified dtypes, checked for nulls, validated date formats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23444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394960" y="1234440"/>
            <a:ext cx="27432" cy="1051560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4688" y="13258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04688" y="1618488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 in refund_amount, cashback; standardized city names and categorical fields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46888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" y="246888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96112" y="2468880"/>
            <a:ext cx="27432" cy="1051560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56032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852928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total revenue ($752.4M), markup ($208.9M), net profit after refunds ($199.3M)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46888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394960" y="2468880"/>
            <a:ext cx="27432" cy="1051560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256032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04688" y="2852928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$9.6M in refunds, $114K cashback drain, $124K coupon impact on margins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70332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370332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96112" y="3703320"/>
            <a:ext cx="27432" cy="1051560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7947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Insights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087368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for city/channel; line charts for monthly trends; heatmaps for booking patterns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70332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370332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🏨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5394960" y="3703320"/>
            <a:ext cx="27432" cy="1051560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4688" y="37947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04688" y="4087368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by stay_type (Leisure: 60%, Business: 40%), star rating, payment method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bookings by booking channel — Web dominates but Mobile App is growing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256032" y="123444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394960" y="1234440"/>
          <a:ext cx="35661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256032" y="4251960"/>
            <a:ext cx="8631936" cy="411480"/>
          </a:xfrm>
          <a:prstGeom prst="rect">
            <a:avLst/>
          </a:prstGeom>
          <a:solidFill>
            <a:srgbClr val="E0F4F4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Insight: Web channel drives 56% of revenue but Travel Agent has lowest count — potential growth channel with dedicated marketing.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13-month revenue trajectory showing consistent growth with seasonal patterns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256032" y="1188720"/>
          <a:ext cx="8631936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256032" y="4370832"/>
            <a:ext cx="8631936" cy="411480"/>
          </a:xfrm>
          <a:prstGeom prst="rect">
            <a:avLst/>
          </a:prstGeom>
          <a:solidFill>
            <a:srgbClr val="E0F4F4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Peak: Mar-25 at $64.5M (+25% vs Apr-24)   |   📉 Dip: Sep-24 ($56.3M) — post-summer slowdown   |   📅 Dec-24 dip: holiday travel completed early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Profitability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(markup) comparison across 6 US cities — extremely balanced distribution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256032" y="118872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280160"/>
            <a:ext cx="294436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129844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🥇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92240" y="131673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leads at $21.5M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2121408"/>
            <a:ext cx="294436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3969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92240" y="2157984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 lowest at $19.8M — $1.7M gap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2962656"/>
            <a:ext cx="294436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98094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999232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narrow spread: only 8.5% variance across cities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0" y="3803904"/>
            <a:ext cx="294436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8221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92240" y="384048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uniform pricing strategy — city-specific optimization has huge upside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&amp; Loss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20.2% cancellation rate + 7.5% failures = $9.6M in refunds — root causes identified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256032" y="118872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114800" y="1188720"/>
          <a:ext cx="477316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256032" y="4251960"/>
            <a:ext cx="8631936" cy="411480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Standard rooms account for 63.5% of all cancellations — highest volume segment needs flexible booking policies to reduce dropout.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Causes: Losses &amp; Missed Revenue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7665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 identified through SQL + Python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97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09728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0392" y="1097280"/>
            <a:ext cx="50292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097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77824" y="142646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Standard Room Cancellations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24" y="169164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3,857 cancellations in Standard category — 63.5% of all cancellations. Rigid no-refund policies push budget travellers to cancel instead of modify.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9728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257800" y="1097280"/>
            <a:ext cx="50292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097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85232" y="142646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Transactions (7.5%)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85232" y="169164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2,258 bookings failed, likely due to payment gateway issues, session timeouts, or poor UX on checkout. Direct revenue leakage.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35915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" y="2359152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50392" y="2359152"/>
            <a:ext cx="50292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23591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7824" y="268833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$9.6M in Refunds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7824" y="295351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= 1.3% of total revenue. Refund triggers include last-minute cancellations, overbooking, and property dissatisfaction.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35915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2359152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257800" y="2359152"/>
            <a:ext cx="50292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3591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5232" y="268833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City Pricing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85232" y="295351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8.5% profit variance across 6 cities despite very different demand profiles. Dynamic pricing not applied — leaving city-level margin untapped.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62102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56032" y="3621024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🏨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50392" y="3621024"/>
            <a:ext cx="5029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" y="36210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77824" y="39502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Under-performance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77824" y="4215384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have only 2,970 bookings vs 16,552 Standard — avg value virtually identical ($24,978 vs $25,147). Premium tier not priced or marketed distinctively.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362102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663440" y="3621024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257800" y="3621024"/>
            <a:ext cx="5029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36210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85232" y="39502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Agent Channel Gap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85232" y="4215384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Agents contribute only 9.8% of bookings ($73.1M revenue) — untapped B2B channel. Incentive structures for agents could significantly boost volume.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Causes: Profit Drivers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7665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working well — key strengths driving $208.9M in markup profit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97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9728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96112" y="1097280"/>
            <a:ext cx="27432" cy="1097280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18872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Channel Dominance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499616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$422.9M revenue (56%) through web — strong SEO, UX, and digital presence driving majority of bookings at scale.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9728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303520" y="1097280"/>
            <a:ext cx="27432" cy="1097280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3248" y="118872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Revenue Growth (YoY)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13248" y="1499616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from $51.5M (Apr-24) to $64.5M (Mar-25) — consistent upward trajectory indicating healthy market demand.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35915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59152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🏖️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96112" y="2359152"/>
            <a:ext cx="27432" cy="1097280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4505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Leisure Segment Strength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76148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Leisure bookings = 60% of revenue ($453.4M). Summer peaks (Jul-Aug) confirm leisure demand is reliable and forecastable.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35915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359152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🌆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303520" y="2359152"/>
            <a:ext cx="27432" cy="1097280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13248" y="24505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Geographic Spread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13248" y="276148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distributed evenly across 6 cities — reduces concentration risk and provides stable baseline across market conditions.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62102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621024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96112" y="3621024"/>
            <a:ext cx="27432" cy="1097280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71246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Payment Methods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4023360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split across PayPal, Debit Card, Credit Card, Bank Transfer (~25% each) — minimises single-gateway failure risk.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62102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621024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5303520" y="3621024"/>
            <a:ext cx="27432" cy="1097280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13248" y="371246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Traction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13248" y="4023360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handles 40% of bookings — strong channel for loyalty programs, push notifications, and personalised offers.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actionable steps to reduce losses, unlock missed revenue, and scale profitability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4297680" cy="86868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97280"/>
            <a:ext cx="457200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972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87952" y="1097280"/>
            <a:ext cx="292608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87952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" y="1152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Cancellation Policy for Standard Rooms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4264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free cancellation up to 48hrs for Standard rooms. Reduces 3,857 hard cancellations — converts them to reschedules, retaining revenue.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2103120"/>
            <a:ext cx="4297680" cy="86868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103120"/>
            <a:ext cx="457200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1031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87952" y="2103120"/>
            <a:ext cx="292608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7952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31520" y="21579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Payment Gateway &amp; Checkout UX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243230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2,258 failed transactions. Implement retry flows, save-cart features, and multi-gateway fallback. Direct revenue recovery.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" y="3108960"/>
            <a:ext cx="4297680" cy="86868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3108960"/>
            <a:ext cx="457200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31089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87952" y="3108960"/>
            <a:ext cx="292608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7952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31520" y="3163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City-Level Pricing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43814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demand-based pricing per city. Chicago/SF/NYC can command 15-20% premium. Uniform pricing leaves $30M+ on the table annually.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4114800"/>
            <a:ext cx="4297680" cy="86868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4114800"/>
            <a:ext cx="457200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41148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87952" y="4114800"/>
            <a:ext cx="292608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87952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31520" y="4169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Suite Repositioning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444398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earn nearly same avg as Standard ($24,978 vs $25,147). Rebrand with premium amenities, dedicated marketing — target $35K+ avg suite value.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097280"/>
            <a:ext cx="4297680" cy="86868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097280"/>
            <a:ext cx="457200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0972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668512" y="1097280"/>
            <a:ext cx="292608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68512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212080" y="1152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Agent Partner Program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12080" y="14264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Agents = only 9.8% bookings. Launch B2B incentive tiers, commission structures, and co-marketing. Target 15% channel share.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2103120"/>
            <a:ext cx="4297680" cy="86868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103120"/>
            <a:ext cx="457200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21031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668512" y="2103120"/>
            <a:ext cx="292608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68512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212080" y="21579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Revenue Campaigns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12080" y="243230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dip ($56.3M) and Dec dip ($54.9M) need targeted promotions. Early-bird winter packages and Sept staycation deals to fill the gaps.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3108960"/>
            <a:ext cx="4297680" cy="86868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108960"/>
            <a:ext cx="457200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1089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668512" y="3108960"/>
            <a:ext cx="292608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68512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212080" y="3163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Loyalty Programme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12080" y="343814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has 40% of bookings but no loyalty data evident. Introduce points, exclusive app-only rates, and push notifications to increase repeat bookings.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Power BI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reports built from cleaned data — KPIs, slicers, and drill-down charts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344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34440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71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 Cards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bookings, revenue, markup profit, refund totals displayed as headline cards with period comparison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71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Status Donut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vs Cancelled vs Failed — filterable by city, channel, room type, and star rating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44768" y="12344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1234440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271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Channel Bar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36208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App / Travel Agent comparison with revenue and booking count dual-axis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7889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788920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825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13-month revenue line chart with movable avg and forecast trendline overlays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27889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788920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825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Profit Map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bubble map of US cities colour-coded by profit margin — click to drill into city data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44768" y="27889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44768" y="2788920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825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Breakdown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36208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avg booking value and cancellation count per room type — Standard, Deluxe, Suite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Bookings Data Analysis — End-to-End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17373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25880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371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•  Python (pandas, matplotlib, seaborn)  •  Power BI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841248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29968"/>
            <a:ext cx="17373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29968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20756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bookings  •  27 columns  •  6 US cities  •  13 months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841248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34056"/>
            <a:ext cx="17373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734056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40280" y="277977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 of bookings lost to cancellations/failures — recoverable with targeted fixes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38144"/>
            <a:ext cx="841248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38144"/>
            <a:ext cx="17373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438144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Potential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0280" y="348386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+ Suite reposition + Agent program = est. +$40M annually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142232"/>
            <a:ext cx="841248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142232"/>
            <a:ext cx="17373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14223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40280" y="41879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payment failures + flex cancellation policy → immediate revenue recovery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Bookings Project</dc:title>
  <dc:subject>PptxGenJS Presentation</dc:subject>
  <dc:creator>PptxGenJS</dc:creator>
  <cp:lastModifiedBy>PptxGenJS</cp:lastModifiedBy>
  <cp:revision>1</cp:revision>
  <dcterms:created xsi:type="dcterms:W3CDTF">2026-05-26T11:56:56Z</dcterms:created>
  <dcterms:modified xsi:type="dcterms:W3CDTF">2026-05-26T11:56:56Z</dcterms:modified>
</cp:coreProperties>
</file>